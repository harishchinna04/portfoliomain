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Crimson Pro"/>
      <p:regular r:id="rId17"/>
    </p:embeddedFont>
    <p:embeddedFont>
      <p:font typeface="Crimson Pro"/>
      <p:regular r:id="rId18"/>
    </p:embeddedFont>
    <p:embeddedFont>
      <p:font typeface="Crimson Pro"/>
      <p:regular r:id="rId19"/>
    </p:embeddedFont>
    <p:embeddedFont>
      <p:font typeface="Crimson Pro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454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Getting the Most Out of Microsoft Outlook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5031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Smarter Email, Calendar, and Productivity at Work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1212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Presented by Hari Vatte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92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Today's Agenda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71700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40613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35E5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2593181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Why Outlook Matters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80380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the central role of Outlook in modern workplace communication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171700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40613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35E5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0148" y="2593181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Features Overview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80380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Navigate the interface and essential tools with confidence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990862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52252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35E5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390" y="5412343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6132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Productivity Tips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622971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Practical strategies to work smarter and save time daily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990862"/>
            <a:ext cx="6408063" cy="2229445"/>
          </a:xfrm>
          <a:prstGeom prst="roundRect">
            <a:avLst>
              <a:gd name="adj" fmla="val 427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62982" y="52252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35E5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5412343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6132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Q&amp;A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622971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questions answered and additional guidance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54" y="519470"/>
            <a:ext cx="8230433" cy="59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Why Outlook Matters in Your Daily Work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54" y="1605677"/>
            <a:ext cx="6423660" cy="64236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53206" y="1605677"/>
            <a:ext cx="425053" cy="425053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67092" y="1670566"/>
            <a:ext cx="289738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Central Communication Hub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167092" y="2154674"/>
            <a:ext cx="5809774" cy="604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Outlook consolidates email, calendar, contacts, and tasks in one powerful platform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553206" y="3137059"/>
            <a:ext cx="425053" cy="425053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67092" y="3201948"/>
            <a:ext cx="237101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Enhanced Organization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167092" y="3686056"/>
            <a:ext cx="5809774" cy="604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Systematically manage messages, appointments, and priorities without missing critical information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553206" y="4668441"/>
            <a:ext cx="425053" cy="425053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67092" y="4733330"/>
            <a:ext cx="23616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Seamless Collaboration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167092" y="5217438"/>
            <a:ext cx="5809774" cy="604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remote and hybrid work with integrated Teams meetings and shared calendars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553206" y="6199823"/>
            <a:ext cx="425053" cy="425053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67092" y="6264712"/>
            <a:ext cx="23616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Reduced Confusion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167092" y="6748820"/>
            <a:ext cx="5809774" cy="604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 communication trails and organized workflows minimize miscommunication and delays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279" y="611029"/>
            <a:ext cx="7731443" cy="1261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Understanding the Outlook Interface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706279" y="2175034"/>
            <a:ext cx="7731443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Mastering these three key areas will transform how you work with Outlook every day.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06279" y="3047762"/>
            <a:ext cx="201811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06279" y="3367802"/>
            <a:ext cx="3764756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7" name="Text 4"/>
          <p:cNvSpPr/>
          <p:nvPr/>
        </p:nvSpPr>
        <p:spPr>
          <a:xfrm>
            <a:off x="706279" y="3514368"/>
            <a:ext cx="2522696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Navigation Pane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706279" y="3950732"/>
            <a:ext cx="3764756" cy="161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control center on the left side displays folders, favorites, and mailbox structure. Quickly switch between Mail, Calendar, People, and Tasks to access everything you need.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672846" y="3047762"/>
            <a:ext cx="201811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672846" y="3367802"/>
            <a:ext cx="3764875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1" name="Text 8"/>
          <p:cNvSpPr/>
          <p:nvPr/>
        </p:nvSpPr>
        <p:spPr>
          <a:xfrm>
            <a:off x="4672846" y="3514368"/>
            <a:ext cx="2522696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Message List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4672846" y="3950732"/>
            <a:ext cx="3764875" cy="161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center panel shows all your emails in the selected folder. Sort by date, sender, or importance. Preview subject lines and identify unread messages at a glance.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06279" y="5918359"/>
            <a:ext cx="201811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06279" y="6238399"/>
            <a:ext cx="7731443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5" name="Text 12"/>
          <p:cNvSpPr/>
          <p:nvPr/>
        </p:nvSpPr>
        <p:spPr>
          <a:xfrm>
            <a:off x="706279" y="6384965"/>
            <a:ext cx="2522696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Reading Pane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706279" y="6821329"/>
            <a:ext cx="7731443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right panel displays full message content without opening a new window. Review emails efficiently while maintaining your workflow and context.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474" y="587335"/>
            <a:ext cx="5339358" cy="66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Mastering Your Inbox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7474" y="1681877"/>
            <a:ext cx="13135451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 email chaos into organized efficiency with these powerful Outlook features.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7474" y="2584133"/>
            <a:ext cx="6460927" cy="2264688"/>
          </a:xfrm>
          <a:prstGeom prst="roundRect">
            <a:avLst>
              <a:gd name="adj" fmla="val 6460"/>
            </a:avLst>
          </a:prstGeom>
          <a:solidFill>
            <a:srgbClr val="FFFCFA"/>
          </a:solidFill>
          <a:ln/>
        </p:spPr>
      </p:sp>
      <p:sp>
        <p:nvSpPr>
          <p:cNvPr id="5" name="Shape 3"/>
          <p:cNvSpPr/>
          <p:nvPr/>
        </p:nvSpPr>
        <p:spPr>
          <a:xfrm>
            <a:off x="747474" y="2553652"/>
            <a:ext cx="6460927" cy="121920"/>
          </a:xfrm>
          <a:prstGeom prst="roundRect">
            <a:avLst>
              <a:gd name="adj" fmla="val 73575"/>
            </a:avLst>
          </a:prstGeom>
          <a:solidFill>
            <a:srgbClr val="835E5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540" y="2263854"/>
            <a:ext cx="640675" cy="640675"/>
          </a:xfrm>
          <a:prstGeom prst="roundRect">
            <a:avLst>
              <a:gd name="adj" fmla="val 142724"/>
            </a:avLst>
          </a:prstGeom>
          <a:solidFill>
            <a:srgbClr val="835E5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49707" y="2456021"/>
            <a:ext cx="256223" cy="2562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1433" y="3118009"/>
            <a:ext cx="2669619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Categories &amp; Folders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91433" y="3579733"/>
            <a:ext cx="5973008" cy="102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Color-code messages by project, urgency, or department. Create custom folders to separate work types and keep your inbox clean and navigable.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21880" y="2584133"/>
            <a:ext cx="6461046" cy="2264688"/>
          </a:xfrm>
          <a:prstGeom prst="roundRect">
            <a:avLst>
              <a:gd name="adj" fmla="val 6460"/>
            </a:avLst>
          </a:prstGeom>
          <a:solidFill>
            <a:srgbClr val="FFFCFA"/>
          </a:solidFill>
          <a:ln/>
        </p:spPr>
      </p:sp>
      <p:sp>
        <p:nvSpPr>
          <p:cNvPr id="11" name="Shape 8"/>
          <p:cNvSpPr/>
          <p:nvPr/>
        </p:nvSpPr>
        <p:spPr>
          <a:xfrm>
            <a:off x="7421880" y="2553652"/>
            <a:ext cx="6461046" cy="121920"/>
          </a:xfrm>
          <a:prstGeom prst="roundRect">
            <a:avLst>
              <a:gd name="adj" fmla="val 73575"/>
            </a:avLst>
          </a:prstGeom>
          <a:solidFill>
            <a:srgbClr val="835E54"/>
          </a:solidFill>
          <a:ln/>
        </p:spPr>
      </p:sp>
      <p:sp>
        <p:nvSpPr>
          <p:cNvPr id="12" name="Shape 9"/>
          <p:cNvSpPr/>
          <p:nvPr/>
        </p:nvSpPr>
        <p:spPr>
          <a:xfrm>
            <a:off x="10332065" y="2263854"/>
            <a:ext cx="640675" cy="640675"/>
          </a:xfrm>
          <a:prstGeom prst="roundRect">
            <a:avLst>
              <a:gd name="adj" fmla="val 142724"/>
            </a:avLst>
          </a:prstGeom>
          <a:solidFill>
            <a:srgbClr val="835E5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4232" y="2456021"/>
            <a:ext cx="256223" cy="25622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65839" y="3118009"/>
            <a:ext cx="2669619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Flags and Follow-Up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7665839" y="3579733"/>
            <a:ext cx="5973128" cy="102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 important emails for action with flag reminders. Set due dates and receive notifications to ensure nothing falls through the cracks.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747474" y="5382578"/>
            <a:ext cx="6460927" cy="2264688"/>
          </a:xfrm>
          <a:prstGeom prst="roundRect">
            <a:avLst>
              <a:gd name="adj" fmla="val 6460"/>
            </a:avLst>
          </a:prstGeom>
          <a:solidFill>
            <a:srgbClr val="FFFCFA"/>
          </a:solidFill>
          <a:ln/>
        </p:spPr>
      </p:sp>
      <p:sp>
        <p:nvSpPr>
          <p:cNvPr id="17" name="Shape 13"/>
          <p:cNvSpPr/>
          <p:nvPr/>
        </p:nvSpPr>
        <p:spPr>
          <a:xfrm>
            <a:off x="747474" y="5352098"/>
            <a:ext cx="6460927" cy="121920"/>
          </a:xfrm>
          <a:prstGeom prst="roundRect">
            <a:avLst>
              <a:gd name="adj" fmla="val 73575"/>
            </a:avLst>
          </a:prstGeom>
          <a:solidFill>
            <a:srgbClr val="835E54"/>
          </a:solidFill>
          <a:ln/>
        </p:spPr>
      </p:sp>
      <p:sp>
        <p:nvSpPr>
          <p:cNvPr id="18" name="Shape 14"/>
          <p:cNvSpPr/>
          <p:nvPr/>
        </p:nvSpPr>
        <p:spPr>
          <a:xfrm>
            <a:off x="3657540" y="5062299"/>
            <a:ext cx="640675" cy="640675"/>
          </a:xfrm>
          <a:prstGeom prst="roundRect">
            <a:avLst>
              <a:gd name="adj" fmla="val 142724"/>
            </a:avLst>
          </a:prstGeom>
          <a:solidFill>
            <a:srgbClr val="835E5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9707" y="5254466"/>
            <a:ext cx="256223" cy="25622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91433" y="5916454"/>
            <a:ext cx="2669619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@Mentions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991433" y="6378178"/>
            <a:ext cx="5973008" cy="102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@mentions in emails to directly notify specific colleagues. Messages appear in their focused inbox, ensuring your request gets immediate attention.</a:t>
            </a:r>
            <a:endParaRPr lang="en-US" sz="1650" dirty="0"/>
          </a:p>
        </p:txBody>
      </p:sp>
      <p:sp>
        <p:nvSpPr>
          <p:cNvPr id="22" name="Shape 17"/>
          <p:cNvSpPr/>
          <p:nvPr/>
        </p:nvSpPr>
        <p:spPr>
          <a:xfrm>
            <a:off x="7421880" y="5382578"/>
            <a:ext cx="6461046" cy="2264688"/>
          </a:xfrm>
          <a:prstGeom prst="roundRect">
            <a:avLst>
              <a:gd name="adj" fmla="val 6460"/>
            </a:avLst>
          </a:prstGeom>
          <a:solidFill>
            <a:srgbClr val="FFFCFA"/>
          </a:solidFill>
          <a:ln/>
        </p:spPr>
      </p:sp>
      <p:sp>
        <p:nvSpPr>
          <p:cNvPr id="23" name="Shape 18"/>
          <p:cNvSpPr/>
          <p:nvPr/>
        </p:nvSpPr>
        <p:spPr>
          <a:xfrm>
            <a:off x="7421880" y="5352098"/>
            <a:ext cx="6461046" cy="121920"/>
          </a:xfrm>
          <a:prstGeom prst="roundRect">
            <a:avLst>
              <a:gd name="adj" fmla="val 73575"/>
            </a:avLst>
          </a:prstGeom>
          <a:solidFill>
            <a:srgbClr val="835E54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2065" y="5062299"/>
            <a:ext cx="640675" cy="640675"/>
          </a:xfrm>
          <a:prstGeom prst="roundRect">
            <a:avLst>
              <a:gd name="adj" fmla="val 142724"/>
            </a:avLst>
          </a:prstGeom>
          <a:solidFill>
            <a:srgbClr val="835E54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24232" y="5254466"/>
            <a:ext cx="256223" cy="25622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65839" y="5916454"/>
            <a:ext cx="2669619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Archive &amp; Clean Up</a:t>
            </a:r>
            <a:endParaRPr lang="en-US" sz="2100" dirty="0"/>
          </a:p>
        </p:txBody>
      </p:sp>
      <p:sp>
        <p:nvSpPr>
          <p:cNvPr id="27" name="Text 21"/>
          <p:cNvSpPr/>
          <p:nvPr/>
        </p:nvSpPr>
        <p:spPr>
          <a:xfrm>
            <a:off x="7665839" y="6378178"/>
            <a:ext cx="5973128" cy="102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Move old messages to Archive instead of deleting them. Use Clean Up to remove redundant emails from long conversation threads automatically.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2196" y="923092"/>
            <a:ext cx="6720364" cy="585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Calendar &amp; Meeting Management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196" y="1789628"/>
            <a:ext cx="936903" cy="13792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66384" y="1976914"/>
            <a:ext cx="2342317" cy="29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New Meeting vs Email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266384" y="2381964"/>
            <a:ext cx="6708219" cy="59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Schedule meetings directly from calendar view. Send meeting invites that automatically appear in attendees' schedules with all details included.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196" y="3168848"/>
            <a:ext cx="936903" cy="13792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66384" y="3356134"/>
            <a:ext cx="2342317" cy="29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Scheduling Assistant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7266384" y="3761184"/>
            <a:ext cx="6708219" cy="59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colleague availability before sending invites. View overlapping schedules to find the best meeting time for all participants instantly.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196" y="4548068"/>
            <a:ext cx="936903" cy="1379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66384" y="4735354"/>
            <a:ext cx="2342317" cy="29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Adding Teams Links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7266384" y="5140404"/>
            <a:ext cx="6708219" cy="59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click adds Teams meeting links to any calendar invite. Enable virtual attendance and hybrid collaboration effortlessly.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96" y="5927288"/>
            <a:ext cx="936903" cy="13792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266384" y="6114574"/>
            <a:ext cx="2342317" cy="29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Setting Reminders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7266384" y="6519624"/>
            <a:ext cx="6708219" cy="59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Customize reminder alerts for meetings and deadlines. Receive notifications at intervals that work for your schedule and preparation needs.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235" y="431602"/>
            <a:ext cx="5493901" cy="49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Search &amp; Organization Strategies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49235" y="1314450"/>
            <a:ext cx="2354342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Master the Search Bar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549235" y="1765578"/>
            <a:ext cx="5183029" cy="50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Outlook's search functionality is your most powerful tool for finding information quickly in massive mailboxes with thousands of messages.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9235" y="2408753"/>
            <a:ext cx="5183029" cy="50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 tip: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Use advanced filters to narrow results and locate exactly what you need in seconds instead of minutes.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5" y="3087291"/>
            <a:ext cx="5183029" cy="518302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2789" y="1334095"/>
            <a:ext cx="7965996" cy="1012746"/>
          </a:xfrm>
          <a:prstGeom prst="roundRect">
            <a:avLst>
              <a:gd name="adj" fmla="val 6509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45649" y="1356955"/>
            <a:ext cx="627817" cy="967026"/>
          </a:xfrm>
          <a:prstGeom prst="roundRect">
            <a:avLst>
              <a:gd name="adj" fmla="val 6131"/>
            </a:avLst>
          </a:prstGeom>
          <a:solidFill>
            <a:srgbClr val="EBE2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8054" y="1722715"/>
            <a:ext cx="235387" cy="2353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30390" y="1513880"/>
            <a:ext cx="2316480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Search by Name or Keyword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930390" y="1916073"/>
            <a:ext cx="697861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 sender names, subject keywords, or message content to instantly retrieve relevant emails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2789" y="2503765"/>
            <a:ext cx="7965996" cy="1012746"/>
          </a:xfrm>
          <a:prstGeom prst="roundRect">
            <a:avLst>
              <a:gd name="adj" fmla="val 6509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45649" y="2526625"/>
            <a:ext cx="627817" cy="967026"/>
          </a:xfrm>
          <a:prstGeom prst="roundRect">
            <a:avLst>
              <a:gd name="adj" fmla="val 6131"/>
            </a:avLst>
          </a:prstGeom>
          <a:solidFill>
            <a:srgbClr val="EBE2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8054" y="2892385"/>
            <a:ext cx="235387" cy="23538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30390" y="2683550"/>
            <a:ext cx="1961912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Apply Smart Filters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930390" y="3085743"/>
            <a:ext cx="697861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Refine searches by sender (From), date ranges, or attachments to pinpoint specific messages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22789" y="3673435"/>
            <a:ext cx="7965996" cy="1263729"/>
          </a:xfrm>
          <a:prstGeom prst="roundRect">
            <a:avLst>
              <a:gd name="adj" fmla="val 5216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45649" y="3696295"/>
            <a:ext cx="627817" cy="1218009"/>
          </a:xfrm>
          <a:prstGeom prst="roundRect">
            <a:avLst>
              <a:gd name="adj" fmla="val 6131"/>
            </a:avLst>
          </a:prstGeom>
          <a:solidFill>
            <a:srgbClr val="EBE2E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38054" y="4187547"/>
            <a:ext cx="235387" cy="23538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30390" y="3853220"/>
            <a:ext cx="1961912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Keep Folders Simple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930390" y="4255413"/>
            <a:ext cx="6978610" cy="50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5-10 essential folders maximum. Over-organizing wastes time—search is faster than elaborate filing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122789" y="5094089"/>
            <a:ext cx="7965996" cy="1263729"/>
          </a:xfrm>
          <a:prstGeom prst="roundRect">
            <a:avLst>
              <a:gd name="adj" fmla="val 5216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145649" y="5116949"/>
            <a:ext cx="627817" cy="1218009"/>
          </a:xfrm>
          <a:prstGeom prst="roundRect">
            <a:avLst>
              <a:gd name="adj" fmla="val 6131"/>
            </a:avLst>
          </a:prstGeom>
          <a:solidFill>
            <a:srgbClr val="EBE2E0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38054" y="5608201"/>
            <a:ext cx="235387" cy="23538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930390" y="5273873"/>
            <a:ext cx="1961912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Automate with Rules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6930390" y="5676067"/>
            <a:ext cx="6978610" cy="50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up Rules to automatically sort incoming mail into folders based on sender, subject, or keywords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1658"/>
            <a:ext cx="67898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Five Quick Productivity Tips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440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these game-changing strategies to reclaim hours every week and reduce email stress.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62118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835E54"/>
          </a:solidFill>
          <a:ln w="7620">
            <a:solidFill>
              <a:srgbClr val="9C77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2896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1. Use Rules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3386971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Automatically route newsletters, updates, and routine messages to designated folders. Your inbox stays focused on actionable items.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662118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C9907C"/>
          </a:solidFill>
          <a:ln w="7620">
            <a:solidFill>
              <a:srgbClr val="AF76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1396" y="2896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2. Delay Send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3386971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Schedule emails to send later during business hours. Write messages anytime while respecting colleagues' boundaries.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2662118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B3BDB5"/>
          </a:solidFill>
          <a:ln w="7620">
            <a:solidFill>
              <a:srgbClr val="99A3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4568" y="2896553"/>
            <a:ext cx="28533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3. Manage Notifications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3386971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Turn off pop-ups and sounds for non-urgent mail. Check email intentionally instead of reacting to constant interruptions.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299829"/>
            <a:ext cx="6407944" cy="2047994"/>
          </a:xfrm>
          <a:prstGeom prst="roundRect">
            <a:avLst>
              <a:gd name="adj" fmla="val 4652"/>
            </a:avLst>
          </a:prstGeom>
          <a:solidFill>
            <a:srgbClr val="835E54"/>
          </a:solidFill>
          <a:ln w="7620">
            <a:solidFill>
              <a:srgbClr val="9C77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224" y="55342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4. Leverage @Mentions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8224" y="6024682"/>
            <a:ext cx="59390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 attention to specific team members in group emails. Ensure accountability and faster responses on collaborative projects.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299829"/>
            <a:ext cx="6407944" cy="2047994"/>
          </a:xfrm>
          <a:prstGeom prst="roundRect">
            <a:avLst>
              <a:gd name="adj" fmla="val 4652"/>
            </a:avLst>
          </a:prstGeom>
          <a:solidFill>
            <a:srgbClr val="C9907C"/>
          </a:solidFill>
          <a:ln w="7620">
            <a:solidFill>
              <a:srgbClr val="AF76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62982" y="55342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5. Time-Block Email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62982" y="6024682"/>
            <a:ext cx="59390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email during 2-3 dedicated blocks daily. Constant checking fragments focus and reduces overall productivity.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1045" y="670441"/>
            <a:ext cx="8154114" cy="66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Real-Life Scenario: A Productive Day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1045" y="1755458"/>
            <a:ext cx="13148310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See how Sarah, a college administrator, uses Outlook strategically to manage a busy workday efficiently.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03770" y="2332196"/>
            <a:ext cx="22860" cy="5226844"/>
          </a:xfrm>
          <a:prstGeom prst="roundRect">
            <a:avLst>
              <a:gd name="adj" fmla="val 389009"/>
            </a:avLst>
          </a:prstGeom>
          <a:solidFill>
            <a:srgbClr val="D1C8C6"/>
          </a:solidFill>
          <a:ln/>
        </p:spPr>
      </p:sp>
      <p:sp>
        <p:nvSpPr>
          <p:cNvPr id="5" name="Shape 3"/>
          <p:cNvSpPr/>
          <p:nvPr/>
        </p:nvSpPr>
        <p:spPr>
          <a:xfrm>
            <a:off x="6464796" y="2558891"/>
            <a:ext cx="635079" cy="22860"/>
          </a:xfrm>
          <a:prstGeom prst="roundRect">
            <a:avLst>
              <a:gd name="adj" fmla="val 389009"/>
            </a:avLst>
          </a:prstGeom>
          <a:solidFill>
            <a:srgbClr val="D1C8C6"/>
          </a:solidFill>
          <a:ln/>
        </p:spPr>
      </p:sp>
      <p:sp>
        <p:nvSpPr>
          <p:cNvPr id="6" name="Shape 4"/>
          <p:cNvSpPr/>
          <p:nvPr/>
        </p:nvSpPr>
        <p:spPr>
          <a:xfrm>
            <a:off x="7077015" y="2332196"/>
            <a:ext cx="476369" cy="476369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56371" y="2371844"/>
            <a:ext cx="317540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2531269" y="2404943"/>
            <a:ext cx="3725347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8:00 AM - Multiple Emails Arrive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41045" y="2862620"/>
            <a:ext cx="5515570" cy="1015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Sarah arrives to 47 new messages: urgent requests, routine updates, meeting invites, and departmental newsletters filling her inbox.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530525" y="3829169"/>
            <a:ext cx="635079" cy="22860"/>
          </a:xfrm>
          <a:prstGeom prst="roundRect">
            <a:avLst>
              <a:gd name="adj" fmla="val 389009"/>
            </a:avLst>
          </a:prstGeom>
          <a:solidFill>
            <a:srgbClr val="D1C8C6"/>
          </a:solidFill>
          <a:ln/>
        </p:spPr>
      </p:sp>
      <p:sp>
        <p:nvSpPr>
          <p:cNvPr id="11" name="Shape 9"/>
          <p:cNvSpPr/>
          <p:nvPr/>
        </p:nvSpPr>
        <p:spPr>
          <a:xfrm>
            <a:off x="7077015" y="3602474"/>
            <a:ext cx="476369" cy="476369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56371" y="3642122"/>
            <a:ext cx="317540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373785" y="3675221"/>
            <a:ext cx="487549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8:15 AM - Prioritize with Categories &amp; Flags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8373785" y="4132898"/>
            <a:ext cx="5515570" cy="1015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She applies color categories (red for urgent, blue for projects, green for FYI) and flags three messages requiring responses by end of day.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464796" y="4924068"/>
            <a:ext cx="635079" cy="22860"/>
          </a:xfrm>
          <a:prstGeom prst="roundRect">
            <a:avLst>
              <a:gd name="adj" fmla="val 389009"/>
            </a:avLst>
          </a:prstGeom>
          <a:solidFill>
            <a:srgbClr val="D1C8C6"/>
          </a:solidFill>
          <a:ln/>
        </p:spPr>
      </p:sp>
      <p:sp>
        <p:nvSpPr>
          <p:cNvPr id="16" name="Shape 14"/>
          <p:cNvSpPr/>
          <p:nvPr/>
        </p:nvSpPr>
        <p:spPr>
          <a:xfrm>
            <a:off x="7077015" y="4697373"/>
            <a:ext cx="476369" cy="476369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6371" y="4737021"/>
            <a:ext cx="317540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199198" y="4770120"/>
            <a:ext cx="5057418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9:00 AM - Schedule Meetings Using Calendar</a:t>
            </a:r>
            <a:endParaRPr lang="en-US" sz="2050" dirty="0"/>
          </a:p>
        </p:txBody>
      </p:sp>
      <p:sp>
        <p:nvSpPr>
          <p:cNvPr id="19" name="Text 17"/>
          <p:cNvSpPr/>
          <p:nvPr/>
        </p:nvSpPr>
        <p:spPr>
          <a:xfrm>
            <a:off x="741045" y="5227796"/>
            <a:ext cx="5515570" cy="1015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Scheduling Assistant, Sarah finds a common time slot for four colleagues. She sends a Teams meeting invite with agenda attached.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530525" y="6019086"/>
            <a:ext cx="635079" cy="22860"/>
          </a:xfrm>
          <a:prstGeom prst="roundRect">
            <a:avLst>
              <a:gd name="adj" fmla="val 389009"/>
            </a:avLst>
          </a:prstGeom>
          <a:solidFill>
            <a:srgbClr val="D1C8C6"/>
          </a:solidFill>
          <a:ln/>
        </p:spPr>
      </p:sp>
      <p:sp>
        <p:nvSpPr>
          <p:cNvPr id="21" name="Shape 19"/>
          <p:cNvSpPr/>
          <p:nvPr/>
        </p:nvSpPr>
        <p:spPr>
          <a:xfrm>
            <a:off x="7077015" y="5792391"/>
            <a:ext cx="476369" cy="476369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6371" y="5832038"/>
            <a:ext cx="317540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373785" y="5865138"/>
            <a:ext cx="4248983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4:30 PM - Search &amp; Follow-Up Review</a:t>
            </a:r>
            <a:endParaRPr lang="en-US" sz="2050" dirty="0"/>
          </a:p>
        </p:txBody>
      </p:sp>
      <p:sp>
        <p:nvSpPr>
          <p:cNvPr id="24" name="Text 22"/>
          <p:cNvSpPr/>
          <p:nvPr/>
        </p:nvSpPr>
        <p:spPr>
          <a:xfrm>
            <a:off x="8373785" y="6322814"/>
            <a:ext cx="5515570" cy="1015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Before leaving, Sarah searches flagged items and uses Quick Steps to send status updates. She archives processed emails and reviews tomorrow's calendar.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3881" y="450890"/>
            <a:ext cx="4972288" cy="512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Takeaways &amp; Thank You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881" y="1393508"/>
            <a:ext cx="6541294" cy="654129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22845" y="1480542"/>
            <a:ext cx="81915" cy="81915"/>
          </a:xfrm>
          <a:prstGeom prst="roundRect">
            <a:avLst>
              <a:gd name="adj" fmla="val 558140"/>
            </a:avLst>
          </a:prstGeom>
          <a:solidFill>
            <a:srgbClr val="835E54"/>
          </a:solidFill>
          <a:ln/>
        </p:spPr>
      </p:sp>
      <p:sp>
        <p:nvSpPr>
          <p:cNvPr id="5" name="Text 2"/>
          <p:cNvSpPr/>
          <p:nvPr/>
        </p:nvSpPr>
        <p:spPr>
          <a:xfrm>
            <a:off x="7768709" y="1393508"/>
            <a:ext cx="3174087" cy="256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835E54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Outlook = Your Communication Hub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68709" y="1813560"/>
            <a:ext cx="6295430" cy="524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Centralize email, calendar, tasks, and contacts in one integrated platform for seamless workflow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522845" y="2753082"/>
            <a:ext cx="81915" cy="81915"/>
          </a:xfrm>
          <a:prstGeom prst="roundRect">
            <a:avLst>
              <a:gd name="adj" fmla="val 558140"/>
            </a:avLst>
          </a:prstGeom>
          <a:solidFill>
            <a:srgbClr val="835E54"/>
          </a:solidFill>
          <a:ln/>
        </p:spPr>
      </p:sp>
      <p:sp>
        <p:nvSpPr>
          <p:cNvPr id="8" name="Text 5"/>
          <p:cNvSpPr/>
          <p:nvPr/>
        </p:nvSpPr>
        <p:spPr>
          <a:xfrm>
            <a:off x="7768709" y="2666048"/>
            <a:ext cx="2049542" cy="256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835E54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Smarter Inbox Habits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68709" y="3086100"/>
            <a:ext cx="6295430" cy="524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categories, flags, rules, and search to transform email chaos into organized efficiency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522845" y="4025622"/>
            <a:ext cx="81915" cy="81915"/>
          </a:xfrm>
          <a:prstGeom prst="roundRect">
            <a:avLst>
              <a:gd name="adj" fmla="val 558140"/>
            </a:avLst>
          </a:prstGeom>
          <a:solidFill>
            <a:srgbClr val="835E54"/>
          </a:solidFill>
          <a:ln/>
        </p:spPr>
      </p:sp>
      <p:sp>
        <p:nvSpPr>
          <p:cNvPr id="11" name="Text 8"/>
          <p:cNvSpPr/>
          <p:nvPr/>
        </p:nvSpPr>
        <p:spPr>
          <a:xfrm>
            <a:off x="7768709" y="3938588"/>
            <a:ext cx="2049542" cy="256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835E54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Effective Scheduling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68709" y="4358640"/>
            <a:ext cx="6295430" cy="524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 calendar tools, Scheduling Assistant, and Teams integration for better meeting management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522845" y="5298162"/>
            <a:ext cx="81915" cy="81915"/>
          </a:xfrm>
          <a:prstGeom prst="roundRect">
            <a:avLst>
              <a:gd name="adj" fmla="val 558140"/>
            </a:avLst>
          </a:prstGeom>
          <a:solidFill>
            <a:srgbClr val="835E54"/>
          </a:solidFill>
          <a:ln/>
        </p:spPr>
      </p:sp>
      <p:sp>
        <p:nvSpPr>
          <p:cNvPr id="14" name="Text 11"/>
          <p:cNvSpPr/>
          <p:nvPr/>
        </p:nvSpPr>
        <p:spPr>
          <a:xfrm>
            <a:off x="7768709" y="5211128"/>
            <a:ext cx="2294573" cy="256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835E54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Search + Rules = Efficiency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68709" y="5631180"/>
            <a:ext cx="6295430" cy="524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Leverage powerful search filters and automation to save hours weekly and never miss important messages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522845" y="6422148"/>
            <a:ext cx="6541294" cy="28099"/>
          </a:xfrm>
          <a:prstGeom prst="rect">
            <a:avLst/>
          </a:prstGeom>
          <a:solidFill>
            <a:srgbClr val="443728">
              <a:alpha val="5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7522845" y="6634639"/>
            <a:ext cx="4489966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Thank you! I'm happy to answer questions.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7522845" y="7106007"/>
            <a:ext cx="6541294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Let's discuss how these strategies can work specifically for your role and workflow.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2025-12-08T21:54:01Z</dcterms:created>
  <dcterms:modified xsi:type="dcterms:W3CDTF">2025-12-08T21:54:01Z</dcterms:modified>
</cp:coreProperties>
</file>